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6040100" cy="9017000"/>
  <p:notesSz cx="16040100" cy="901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3007" y="2795270"/>
            <a:ext cx="13634085" cy="1893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06015" y="5049520"/>
            <a:ext cx="11228070" cy="225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sng">
                <a:solidFill>
                  <a:srgbClr val="357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rgbClr val="357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02005" y="2073910"/>
            <a:ext cx="6977443" cy="595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260651" y="2073910"/>
            <a:ext cx="6977443" cy="595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040100" cy="901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244" y="922032"/>
            <a:ext cx="6001384" cy="165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3787" y="2436393"/>
            <a:ext cx="13762990" cy="428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sng">
                <a:solidFill>
                  <a:srgbClr val="3578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453634" y="8385810"/>
            <a:ext cx="5132832" cy="45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02005" y="8385810"/>
            <a:ext cx="3689223" cy="45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48872" y="8385810"/>
            <a:ext cx="3689223" cy="45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nytimes.com/2021/06/04/opinion/ezra-klein-podcast-brian-christian.html" TargetMode="External"/><Relationship Id="rId3" Type="http://schemas.openxmlformats.org/officeDocument/2006/relationships/hyperlink" Target="http://www.nytimes.com/2021/04/16/opinion/ezra-klein-podcast-alison-gopnik.html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6040100" cy="9017000"/>
            <a:chOff x="0" y="0"/>
            <a:chExt cx="16040100" cy="901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040100" cy="9017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732343" y="7869670"/>
              <a:ext cx="6045200" cy="387350"/>
            </a:xfrm>
            <a:custGeom>
              <a:avLst/>
              <a:gdLst/>
              <a:ahLst/>
              <a:cxnLst/>
              <a:rect l="l" t="t" r="r" b="b"/>
              <a:pathLst>
                <a:path w="6045200" h="387350">
                  <a:moveTo>
                    <a:pt x="6044907" y="0"/>
                  </a:moveTo>
                  <a:lnTo>
                    <a:pt x="0" y="0"/>
                  </a:lnTo>
                  <a:lnTo>
                    <a:pt x="0" y="387126"/>
                  </a:lnTo>
                  <a:lnTo>
                    <a:pt x="6044907" y="387126"/>
                  </a:lnTo>
                  <a:lnTo>
                    <a:pt x="6044907" y="0"/>
                  </a:lnTo>
                  <a:close/>
                </a:path>
              </a:pathLst>
            </a:custGeom>
            <a:solidFill>
              <a:srgbClr val="2223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846364" y="7907361"/>
            <a:ext cx="3823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B6AFF"/>
                </a:solidFill>
                <a:latin typeface="Arial"/>
                <a:cs typeface="Arial"/>
              </a:rPr>
              <a:t>Design</a:t>
            </a:r>
            <a:r>
              <a:rPr dirty="0" sz="1800" spc="40">
                <a:solidFill>
                  <a:srgbClr val="AB6AFF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AB6AFF"/>
                </a:solidFill>
                <a:latin typeface="Arial"/>
                <a:cs typeface="Arial"/>
              </a:rPr>
              <a:t>director,</a:t>
            </a:r>
            <a:r>
              <a:rPr dirty="0" sz="1800" spc="45">
                <a:solidFill>
                  <a:srgbClr val="AB6A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B6AFF"/>
                </a:solidFill>
                <a:latin typeface="Arial"/>
                <a:cs typeface="Arial"/>
              </a:rPr>
              <a:t>research</a:t>
            </a:r>
            <a:r>
              <a:rPr dirty="0" sz="1800" spc="40">
                <a:solidFill>
                  <a:srgbClr val="AB6AFF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AB6AFF"/>
                </a:solidFill>
                <a:latin typeface="Arial"/>
                <a:cs typeface="Arial"/>
              </a:rPr>
              <a:t>&amp;</a:t>
            </a:r>
            <a:r>
              <a:rPr dirty="0" sz="1800" spc="45">
                <a:solidFill>
                  <a:srgbClr val="AB6A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AB6AFF"/>
                </a:solidFill>
                <a:latin typeface="Arial"/>
                <a:cs typeface="Arial"/>
              </a:rPr>
              <a:t>strategy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82" y="3932374"/>
            <a:ext cx="10724515" cy="3445510"/>
          </a:xfrm>
          <a:prstGeom prst="rect"/>
        </p:spPr>
        <p:txBody>
          <a:bodyPr wrap="square" lIns="0" tIns="616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55"/>
              </a:spcBef>
            </a:pPr>
            <a:r>
              <a:rPr dirty="0" sz="7100" spc="-455">
                <a:solidFill>
                  <a:srgbClr val="FFFFFF"/>
                </a:solidFill>
              </a:rPr>
              <a:t>Shaping</a:t>
            </a:r>
            <a:r>
              <a:rPr dirty="0" sz="7100" spc="-540">
                <a:solidFill>
                  <a:srgbClr val="FFFFFF"/>
                </a:solidFill>
              </a:rPr>
              <a:t> </a:t>
            </a:r>
            <a:r>
              <a:rPr dirty="0" sz="7100" spc="-254">
                <a:solidFill>
                  <a:srgbClr val="FFFFFF"/>
                </a:solidFill>
              </a:rPr>
              <a:t>the</a:t>
            </a:r>
            <a:r>
              <a:rPr dirty="0" sz="7100" spc="-535">
                <a:solidFill>
                  <a:srgbClr val="FFFFFF"/>
                </a:solidFill>
              </a:rPr>
              <a:t> </a:t>
            </a:r>
            <a:r>
              <a:rPr dirty="0" sz="7100" spc="-160">
                <a:solidFill>
                  <a:srgbClr val="FFFFFF"/>
                </a:solidFill>
              </a:rPr>
              <a:t>future</a:t>
            </a:r>
            <a:r>
              <a:rPr dirty="0" sz="7100" spc="-540">
                <a:solidFill>
                  <a:srgbClr val="FFFFFF"/>
                </a:solidFill>
              </a:rPr>
              <a:t> </a:t>
            </a:r>
            <a:r>
              <a:rPr dirty="0" sz="7100" spc="-190">
                <a:solidFill>
                  <a:srgbClr val="FFFFFF"/>
                </a:solidFill>
              </a:rPr>
              <a:t>of</a:t>
            </a:r>
            <a:r>
              <a:rPr dirty="0" sz="7100" spc="-530">
                <a:solidFill>
                  <a:srgbClr val="FFFFFF"/>
                </a:solidFill>
              </a:rPr>
              <a:t> </a:t>
            </a:r>
            <a:r>
              <a:rPr dirty="0" sz="7100" spc="-595">
                <a:solidFill>
                  <a:srgbClr val="FFFFFF"/>
                </a:solidFill>
              </a:rPr>
              <a:t>AI</a:t>
            </a:r>
            <a:endParaRPr sz="7100"/>
          </a:p>
          <a:p>
            <a:pPr marL="72390" marR="2168525">
              <a:lnSpc>
                <a:spcPct val="135800"/>
              </a:lnSpc>
              <a:spcBef>
                <a:spcPts val="940"/>
              </a:spcBef>
            </a:pPr>
            <a:r>
              <a:rPr dirty="0" sz="3900" spc="-180">
                <a:solidFill>
                  <a:srgbClr val="FFFFFF"/>
                </a:solidFill>
              </a:rPr>
              <a:t>Proper</a:t>
            </a:r>
            <a:r>
              <a:rPr dirty="0" sz="3900" spc="-265">
                <a:solidFill>
                  <a:srgbClr val="FFFFFF"/>
                </a:solidFill>
              </a:rPr>
              <a:t> </a:t>
            </a:r>
            <a:r>
              <a:rPr dirty="0" sz="3900" spc="-170">
                <a:solidFill>
                  <a:srgbClr val="FFFFFF"/>
                </a:solidFill>
              </a:rPr>
              <a:t>alignment,</a:t>
            </a:r>
            <a:r>
              <a:rPr dirty="0" sz="3900" spc="-245">
                <a:solidFill>
                  <a:srgbClr val="FFFFFF"/>
                </a:solidFill>
              </a:rPr>
              <a:t> </a:t>
            </a:r>
            <a:r>
              <a:rPr dirty="0" sz="3900" spc="-220">
                <a:solidFill>
                  <a:srgbClr val="FFFFFF"/>
                </a:solidFill>
              </a:rPr>
              <a:t>ethical</a:t>
            </a:r>
            <a:r>
              <a:rPr dirty="0" sz="3900" spc="-254">
                <a:solidFill>
                  <a:srgbClr val="FFFFFF"/>
                </a:solidFill>
              </a:rPr>
              <a:t> </a:t>
            </a:r>
            <a:r>
              <a:rPr dirty="0" sz="3900" spc="-10">
                <a:solidFill>
                  <a:srgbClr val="FFFFFF"/>
                </a:solidFill>
              </a:rPr>
              <a:t>human </a:t>
            </a:r>
            <a:r>
              <a:rPr dirty="0" sz="3900" spc="-250">
                <a:solidFill>
                  <a:srgbClr val="FFFFFF"/>
                </a:solidFill>
              </a:rPr>
              <a:t>conduct</a:t>
            </a:r>
            <a:r>
              <a:rPr dirty="0" sz="3900" spc="-285">
                <a:solidFill>
                  <a:srgbClr val="FFFFFF"/>
                </a:solidFill>
              </a:rPr>
              <a:t> </a:t>
            </a:r>
            <a:r>
              <a:rPr dirty="0" sz="3900" spc="-229">
                <a:solidFill>
                  <a:srgbClr val="FFFFFF"/>
                </a:solidFill>
              </a:rPr>
              <a:t>towards</a:t>
            </a:r>
            <a:r>
              <a:rPr dirty="0" sz="3900" spc="-270">
                <a:solidFill>
                  <a:srgbClr val="FFFFFF"/>
                </a:solidFill>
              </a:rPr>
              <a:t> </a:t>
            </a:r>
            <a:r>
              <a:rPr dirty="0" sz="3900" spc="-235">
                <a:solidFill>
                  <a:srgbClr val="FFFFFF"/>
                </a:solidFill>
              </a:rPr>
              <a:t>models</a:t>
            </a:r>
            <a:r>
              <a:rPr dirty="0" sz="3900" spc="-265">
                <a:solidFill>
                  <a:srgbClr val="FFFFFF"/>
                </a:solidFill>
              </a:rPr>
              <a:t> </a:t>
            </a:r>
            <a:r>
              <a:rPr dirty="0" sz="3900" spc="-165">
                <a:solidFill>
                  <a:srgbClr val="FFFFFF"/>
                </a:solidFill>
              </a:rPr>
              <a:t>and</a:t>
            </a:r>
            <a:r>
              <a:rPr dirty="0" sz="3900" spc="-270">
                <a:solidFill>
                  <a:srgbClr val="FFFFFF"/>
                </a:solidFill>
              </a:rPr>
              <a:t> </a:t>
            </a:r>
            <a:r>
              <a:rPr dirty="0" sz="3900" spc="-125">
                <a:solidFill>
                  <a:srgbClr val="FFFFFF"/>
                </a:solidFill>
              </a:rPr>
              <a:t>tools</a:t>
            </a:r>
            <a:endParaRPr sz="3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257165" cy="4032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rise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has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already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impacted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our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lives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many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ways.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Backstage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front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stage, AI's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effect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rippling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across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large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swathes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of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industries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shifting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human-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technology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interaction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virtual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assistants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(nearly)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autonomous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vehicles.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jumps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computing power,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data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availability,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advanced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algorithms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have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propelled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AI's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toddling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baby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steps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into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many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business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spaces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—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healthcare,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education,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finance,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others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—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while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raising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critical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ethical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considerations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 carefully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navigated.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75" y="0"/>
            <a:ext cx="8020024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390"/>
              <a:t>The</a:t>
            </a:r>
            <a:r>
              <a:rPr dirty="0" spc="-335"/>
              <a:t> </a:t>
            </a:r>
            <a:r>
              <a:rPr dirty="0" spc="-270"/>
              <a:t>rise</a:t>
            </a:r>
            <a:r>
              <a:rPr dirty="0" spc="-330"/>
              <a:t> </a:t>
            </a:r>
            <a:r>
              <a:rPr dirty="0" spc="-135"/>
              <a:t>of</a:t>
            </a:r>
            <a:r>
              <a:rPr dirty="0" spc="-335"/>
              <a:t> </a:t>
            </a:r>
            <a:r>
              <a:rPr dirty="0" spc="-385"/>
              <a:t>AI </a:t>
            </a:r>
            <a:r>
              <a:rPr dirty="0" spc="-350"/>
              <a:t>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890088"/>
            <a:ext cx="5175250" cy="423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0014">
              <a:lnSpc>
                <a:spcPct val="1111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last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time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met,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talked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lot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ethics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programmers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—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—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need</a:t>
            </a:r>
            <a:endParaRPr sz="1800">
              <a:latin typeface="Arial"/>
              <a:cs typeface="Arial"/>
            </a:endParaRPr>
          </a:p>
          <a:p>
            <a:pPr marL="12700" marR="358140">
              <a:lnSpc>
                <a:spcPct val="132800"/>
              </a:lnSpc>
            </a:pP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instill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machines: Skynet, Asimov,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bee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Hawtch</a:t>
            </a:r>
            <a:r>
              <a:rPr dirty="0" sz="1800" spc="2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Hawtcher,</a:t>
            </a:r>
            <a:r>
              <a:rPr dirty="0" sz="1800" spc="2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2800"/>
              </a:lnSpc>
              <a:spcBef>
                <a:spcPts val="5"/>
              </a:spcBef>
            </a:pP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But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got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me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thinking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treat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AI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models.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What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our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interactions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these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systems?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If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Hawtch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Hawtcher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watching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bee,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who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watches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them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ensure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treat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them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(the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bee)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respect,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fairness,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responsibility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while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also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maintaining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clear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understanding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their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non-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human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nature?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0843" y="0"/>
            <a:ext cx="6404483" cy="9010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330"/>
              <a:t>Picking</a:t>
            </a:r>
            <a:r>
              <a:rPr dirty="0" spc="-335"/>
              <a:t> </a:t>
            </a:r>
            <a:r>
              <a:rPr dirty="0" spc="-135"/>
              <a:t>up</a:t>
            </a:r>
            <a:r>
              <a:rPr dirty="0" spc="-330"/>
              <a:t> </a:t>
            </a:r>
            <a:r>
              <a:rPr dirty="0" spc="-114"/>
              <a:t>from</a:t>
            </a:r>
            <a:r>
              <a:rPr dirty="0" spc="-335"/>
              <a:t> </a:t>
            </a:r>
            <a:r>
              <a:rPr dirty="0" spc="-285"/>
              <a:t>last </a:t>
            </a:r>
            <a:r>
              <a:rPr dirty="0" spc="-20"/>
              <a:t>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418455" cy="4709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8425">
              <a:lnSpc>
                <a:spcPct val="132800"/>
              </a:lnSpc>
              <a:spcBef>
                <a:spcPts val="100"/>
              </a:spcBef>
            </a:pP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you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might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recall,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also discussed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article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that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Asimov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wrote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 i="1">
                <a:solidFill>
                  <a:srgbClr val="1A1A1A"/>
                </a:solidFill>
                <a:latin typeface="Calibri"/>
                <a:cs typeface="Calibri"/>
              </a:rPr>
              <a:t>Compute!</a:t>
            </a:r>
            <a:r>
              <a:rPr dirty="0" sz="1800" spc="12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magazine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1981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three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laws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robotics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could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used as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tools.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800">
              <a:latin typeface="Arial"/>
              <a:cs typeface="Arial"/>
            </a:endParaRPr>
          </a:p>
          <a:p>
            <a:pPr marL="514984" indent="-266065">
              <a:lnSpc>
                <a:spcPct val="100000"/>
              </a:lnSpc>
              <a:buAutoNum type="arabicPeriod"/>
              <a:tabLst>
                <a:tab pos="514984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tool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unsafe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use.</a:t>
            </a:r>
            <a:endParaRPr sz="1800">
              <a:latin typeface="Arial"/>
              <a:cs typeface="Arial"/>
            </a:endParaRPr>
          </a:p>
          <a:p>
            <a:pPr marL="514984" indent="-26606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514984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tool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perform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function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efficiently</a:t>
            </a:r>
            <a:endParaRPr sz="1800">
              <a:latin typeface="Arial"/>
              <a:cs typeface="Arial"/>
            </a:endParaRPr>
          </a:p>
          <a:p>
            <a:pPr marL="516255">
              <a:lnSpc>
                <a:spcPct val="100000"/>
              </a:lnSpc>
              <a:spcBef>
                <a:spcPts val="71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unless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would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harm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user.</a:t>
            </a:r>
            <a:endParaRPr sz="1800">
              <a:latin typeface="Arial"/>
              <a:cs typeface="Arial"/>
            </a:endParaRPr>
          </a:p>
          <a:p>
            <a:pPr marL="514984" marR="32384" indent="-266065">
              <a:lnSpc>
                <a:spcPct val="132800"/>
              </a:lnSpc>
              <a:buAutoNum type="arabicPeriod" startAt="3"/>
              <a:tabLst>
                <a:tab pos="516255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tool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remain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intact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during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use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unless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destruction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required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or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safety.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What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tool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users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are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using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tools?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101" y="0"/>
            <a:ext cx="8019999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6244" y="922032"/>
            <a:ext cx="6554470" cy="1651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330"/>
              <a:t>We</a:t>
            </a:r>
            <a:r>
              <a:rPr dirty="0" spc="-345"/>
              <a:t> </a:t>
            </a:r>
            <a:r>
              <a:rPr dirty="0" spc="-245"/>
              <a:t>talked</a:t>
            </a:r>
            <a:r>
              <a:rPr dirty="0" spc="-340"/>
              <a:t> </a:t>
            </a:r>
            <a:r>
              <a:rPr dirty="0" spc="-10"/>
              <a:t>about </a:t>
            </a:r>
            <a:r>
              <a:rPr dirty="0" spc="-300"/>
              <a:t>Asimov's</a:t>
            </a:r>
            <a:r>
              <a:rPr dirty="0" spc="-330"/>
              <a:t> </a:t>
            </a:r>
            <a:r>
              <a:rPr dirty="0" spc="-355"/>
              <a:t>laws</a:t>
            </a:r>
            <a:r>
              <a:rPr dirty="0" spc="-325"/>
              <a:t> </a:t>
            </a:r>
            <a:r>
              <a:rPr dirty="0" spc="-145"/>
              <a:t>of</a:t>
            </a:r>
            <a:r>
              <a:rPr dirty="0" spc="-330"/>
              <a:t> </a:t>
            </a:r>
            <a:r>
              <a:rPr dirty="0" spc="-275"/>
              <a:t>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13180" y="2775381"/>
            <a:ext cx="4892040" cy="293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1770" marR="5080" indent="-179705">
              <a:lnSpc>
                <a:spcPct val="132800"/>
              </a:lnSpc>
              <a:spcBef>
                <a:spcPts val="100"/>
              </a:spcBef>
              <a:buChar char="•"/>
              <a:tabLst>
                <a:tab pos="193040" algn="l"/>
              </a:tabLst>
            </a:pP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many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people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have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used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model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or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some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AI-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enabled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technology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last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30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days?</a:t>
            </a:r>
            <a:endParaRPr sz="1800">
              <a:latin typeface="Arial"/>
              <a:cs typeface="Arial"/>
            </a:endParaRPr>
          </a:p>
          <a:p>
            <a:pPr marL="191770" marR="561975" indent="-179705">
              <a:lnSpc>
                <a:spcPct val="132800"/>
              </a:lnSpc>
              <a:buChar char="•"/>
              <a:tabLst>
                <a:tab pos="193040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Do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you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align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model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on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your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goal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-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intention?</a:t>
            </a:r>
            <a:endParaRPr sz="1800">
              <a:latin typeface="Arial"/>
              <a:cs typeface="Arial"/>
            </a:endParaRPr>
          </a:p>
          <a:p>
            <a:pPr marL="192405" indent="-179705">
              <a:lnSpc>
                <a:spcPct val="100000"/>
              </a:lnSpc>
              <a:spcBef>
                <a:spcPts val="705"/>
              </a:spcBef>
              <a:buChar char="•"/>
              <a:tabLst>
                <a:tab pos="192405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Who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doesn’t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trust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models?</a:t>
            </a:r>
            <a:endParaRPr sz="1800">
              <a:latin typeface="Arial"/>
              <a:cs typeface="Arial"/>
            </a:endParaRPr>
          </a:p>
          <a:p>
            <a:pPr marL="191770" marR="406400" indent="-179705">
              <a:lnSpc>
                <a:spcPct val="132800"/>
              </a:lnSpc>
              <a:buChar char="•"/>
              <a:tabLst>
                <a:tab pos="193040" algn="l"/>
              </a:tabLst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Are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there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any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you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deliberately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avoid</a:t>
            </a:r>
            <a:r>
              <a:rPr dirty="0" sz="1800" spc="1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using?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9974" y="0"/>
            <a:ext cx="8020050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204"/>
              <a:t>Four</a:t>
            </a:r>
            <a:r>
              <a:rPr dirty="0" spc="-330"/>
              <a:t> </a:t>
            </a:r>
            <a:r>
              <a:rPr dirty="0" spc="-260"/>
              <a:t>questions</a:t>
            </a:r>
            <a:r>
              <a:rPr dirty="0" spc="-330"/>
              <a:t> </a:t>
            </a:r>
            <a:r>
              <a:rPr dirty="0" spc="-25"/>
              <a:t>for </a:t>
            </a:r>
            <a:r>
              <a:rPr dirty="0" spc="-175"/>
              <a:t>the</a:t>
            </a:r>
            <a:r>
              <a:rPr dirty="0" spc="-325"/>
              <a:t> </a:t>
            </a:r>
            <a:r>
              <a:rPr dirty="0" spc="-10"/>
              <a:t>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376545" cy="508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Did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you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hear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one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model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that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played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Super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Mario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Brothers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continuously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four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months?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Arial"/>
              <a:cs typeface="Arial"/>
            </a:endParaRPr>
          </a:p>
          <a:p>
            <a:pPr marL="12700" marR="10160">
              <a:lnSpc>
                <a:spcPct val="132800"/>
              </a:lnSpc>
              <a:spcBef>
                <a:spcPts val="5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While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discovered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all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sorts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exploits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strategies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even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the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game's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designers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were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unaware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of,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also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exhibited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erratic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behavior,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such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pausing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several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minutes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hours,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 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essentially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refusing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play.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behavior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was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unexpected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challenging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explain,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did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align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AI's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set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objective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maximizing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score.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70" i="1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dirty="0" sz="1800" spc="14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A1A1A"/>
                </a:solidFill>
                <a:latin typeface="Calibri"/>
                <a:cs typeface="Calibri"/>
              </a:rPr>
              <a:t>"The</a:t>
            </a:r>
            <a:r>
              <a:rPr dirty="0" sz="1800" spc="14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A1A1A"/>
                </a:solidFill>
                <a:latin typeface="Calibri"/>
                <a:cs typeface="Calibri"/>
              </a:rPr>
              <a:t>Alignment</a:t>
            </a:r>
            <a:r>
              <a:rPr dirty="0" sz="1800" spc="14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55" i="1">
                <a:solidFill>
                  <a:srgbClr val="1A1A1A"/>
                </a:solidFill>
                <a:latin typeface="Calibri"/>
                <a:cs typeface="Calibri"/>
              </a:rPr>
              <a:t>Problem"</a:t>
            </a:r>
            <a:r>
              <a:rPr dirty="0" sz="1800" spc="14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dirty="0" sz="1800" spc="14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85" i="1">
                <a:solidFill>
                  <a:srgbClr val="1A1A1A"/>
                </a:solidFill>
                <a:latin typeface="Calibri"/>
                <a:cs typeface="Calibri"/>
              </a:rPr>
              <a:t>Brian</a:t>
            </a:r>
            <a:r>
              <a:rPr dirty="0" sz="1800" spc="14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45" i="1">
                <a:solidFill>
                  <a:srgbClr val="1A1A1A"/>
                </a:solidFill>
                <a:latin typeface="Calibri"/>
                <a:cs typeface="Calibri"/>
              </a:rPr>
              <a:t>Christian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50" y="0"/>
            <a:ext cx="8020050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6244" y="922032"/>
            <a:ext cx="5108575" cy="1651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285"/>
              <a:t>Super</a:t>
            </a:r>
            <a:r>
              <a:rPr dirty="0" spc="-325"/>
              <a:t> </a:t>
            </a:r>
            <a:r>
              <a:rPr dirty="0" spc="-150"/>
              <a:t>Mario</a:t>
            </a:r>
            <a:r>
              <a:rPr dirty="0" spc="-320"/>
              <a:t> </a:t>
            </a:r>
            <a:r>
              <a:rPr dirty="0" spc="-145"/>
              <a:t>high </a:t>
            </a:r>
            <a:r>
              <a:rPr dirty="0" spc="-420"/>
              <a:t>scores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9998" y="0"/>
            <a:ext cx="8020037" cy="9010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30240" y="2775381"/>
            <a:ext cx="5572760" cy="476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example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highlights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need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careful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consideration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the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objectives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rewards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given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to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during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training.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If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optimized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a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narrow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objective,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such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maximizing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game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score,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may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behave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way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that's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unexpected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a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human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perspective.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Arial"/>
              <a:cs typeface="Arial"/>
            </a:endParaRPr>
          </a:p>
          <a:p>
            <a:pPr marL="12700" marR="302260">
              <a:lnSpc>
                <a:spcPct val="132800"/>
              </a:lnSpc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also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illustrates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complex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relationship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between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challenges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ensuring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behave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ways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align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human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values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expectations,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even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seemingly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simple</a:t>
            </a:r>
            <a:r>
              <a:rPr dirty="0" sz="1800" spc="1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contexts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like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playing</a:t>
            </a:r>
            <a:r>
              <a:rPr dirty="0" sz="1800" spc="1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video</a:t>
            </a:r>
            <a:r>
              <a:rPr dirty="0" sz="1800" spc="1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game.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6244" y="922032"/>
            <a:ext cx="5091430" cy="1651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165"/>
              <a:t>What</a:t>
            </a:r>
            <a:r>
              <a:rPr dirty="0" spc="-320"/>
              <a:t> </a:t>
            </a:r>
            <a:r>
              <a:rPr dirty="0" spc="-295"/>
              <a:t>Super </a:t>
            </a:r>
            <a:r>
              <a:rPr dirty="0" spc="-150"/>
              <a:t>Mario</a:t>
            </a:r>
            <a:r>
              <a:rPr dirty="0" spc="-325"/>
              <a:t> </a:t>
            </a:r>
            <a:r>
              <a:rPr dirty="0" spc="-360"/>
              <a:t>teaches</a:t>
            </a:r>
            <a:r>
              <a:rPr dirty="0" spc="-320"/>
              <a:t> </a:t>
            </a:r>
            <a:r>
              <a:rPr dirty="0" spc="-335"/>
              <a:t>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368290" cy="3977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2016,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Microsoft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launched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1A1A1A"/>
                </a:solidFill>
                <a:latin typeface="Arial"/>
                <a:cs typeface="Arial"/>
              </a:rPr>
              <a:t>Tay,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AI-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powered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chatbot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designed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learn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interactions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users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on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Twitter.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However,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within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hours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its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release,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1A1A1A"/>
                </a:solidFill>
                <a:latin typeface="Arial"/>
                <a:cs typeface="Arial"/>
              </a:rPr>
              <a:t>Tay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began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posting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inflammatory,</a:t>
            </a:r>
            <a:r>
              <a:rPr dirty="0" sz="1800" spc="5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offensive,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racist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tweets,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had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learned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from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malicious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behavior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some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users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who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exploited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learning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capabilities.</a:t>
            </a:r>
            <a:endParaRPr sz="1800">
              <a:latin typeface="Arial"/>
              <a:cs typeface="Arial"/>
            </a:endParaRPr>
          </a:p>
          <a:p>
            <a:pPr marL="12700" marR="64135">
              <a:lnSpc>
                <a:spcPct val="132800"/>
              </a:lnSpc>
              <a:spcBef>
                <a:spcPts val="2035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bot's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problem?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context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from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which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was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learning?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was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1A1A1A"/>
                </a:solidFill>
                <a:latin typeface="Arial"/>
                <a:cs typeface="Arial"/>
              </a:rPr>
              <a:t>Tay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aligned?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What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was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its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goal?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37" y="0"/>
            <a:ext cx="8020050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254"/>
              <a:t>Microsoft's</a:t>
            </a:r>
            <a:r>
              <a:rPr dirty="0" spc="-300"/>
              <a:t> </a:t>
            </a:r>
            <a:r>
              <a:rPr dirty="0" spc="-275"/>
              <a:t>Twitter </a:t>
            </a:r>
            <a:r>
              <a:rPr dirty="0" spc="-95"/>
              <a:t>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904865" cy="507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5255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When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team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applied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their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random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network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distillation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1A1A1A"/>
                </a:solidFill>
                <a:latin typeface="Arial"/>
                <a:cs typeface="Arial"/>
              </a:rPr>
              <a:t>(RND)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agent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game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Montezuma's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Revenge,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model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initially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explored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20-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22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24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rooms.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However,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then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discovered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exploit: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instead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progressing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through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game,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found</a:t>
            </a:r>
            <a:endParaRPr sz="1800">
              <a:latin typeface="Arial"/>
              <a:cs typeface="Arial"/>
            </a:endParaRPr>
          </a:p>
          <a:p>
            <a:pPr marL="12700" marR="711835">
              <a:lnSpc>
                <a:spcPct val="132800"/>
              </a:lnSpc>
            </a:pP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by escaping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temple,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could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repeatedly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collect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single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treasure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maximized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rewards.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2800"/>
              </a:lnSpc>
              <a:spcBef>
                <a:spcPts val="5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Like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Mario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example,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illustrates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difficulty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creating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robust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reward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reinforcement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learning</a:t>
            </a:r>
            <a:r>
              <a:rPr dirty="0" sz="1800" spc="11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1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incentivize</a:t>
            </a:r>
            <a:r>
              <a:rPr dirty="0" sz="1800" spc="1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intended</a:t>
            </a:r>
            <a:r>
              <a:rPr dirty="0" sz="1800" spc="1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behaviors.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It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underscores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need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careful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reward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engineering,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proper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incentive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structures,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methods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detect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prevent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hacking.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12" y="0"/>
            <a:ext cx="8020049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130"/>
              <a:t>Montezuma's </a:t>
            </a:r>
            <a:r>
              <a:rPr dirty="0" spc="-405"/>
              <a:t>Revenge’s</a:t>
            </a:r>
            <a:r>
              <a:rPr dirty="0" spc="-310"/>
              <a:t> </a:t>
            </a:r>
            <a:r>
              <a:rPr dirty="0" spc="-305"/>
              <a:t>riches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520055" cy="439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653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Nick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Bostrom's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"paperclip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maximizer"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thought experiment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illustrates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potential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risks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misaligned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objectives.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scenario,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advanced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tasked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maximizing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paperclip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production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decides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convert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any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all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resources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 into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paperclips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—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any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all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resources,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including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humans.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While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hypothetical,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highlights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2800"/>
              </a:lnSpc>
            </a:pP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importance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ensuring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specific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goals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prevent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unintended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catastrophic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consequences.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60" i="1">
                <a:solidFill>
                  <a:srgbClr val="1A1A1A"/>
                </a:solidFill>
                <a:latin typeface="Calibri"/>
                <a:cs typeface="Calibri"/>
              </a:rPr>
              <a:t>Remember,</a:t>
            </a:r>
            <a:r>
              <a:rPr dirty="0" sz="1800" spc="13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50" i="1">
                <a:solidFill>
                  <a:srgbClr val="1A1A1A"/>
                </a:solidFill>
                <a:latin typeface="Calibri"/>
                <a:cs typeface="Calibri"/>
              </a:rPr>
              <a:t>this</a:t>
            </a:r>
            <a:r>
              <a:rPr dirty="0" sz="1800" spc="13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50" i="1">
                <a:solidFill>
                  <a:srgbClr val="1A1A1A"/>
                </a:solidFill>
                <a:latin typeface="Calibri"/>
                <a:cs typeface="Calibri"/>
              </a:rPr>
              <a:t>is</a:t>
            </a:r>
            <a:r>
              <a:rPr dirty="0" sz="1800" spc="13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A1A1A"/>
                </a:solidFill>
                <a:latin typeface="Calibri"/>
                <a:cs typeface="Calibri"/>
              </a:rPr>
              <a:t>just</a:t>
            </a:r>
            <a:r>
              <a:rPr dirty="0" sz="1800" spc="13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80" i="1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dirty="0" sz="1800" spc="135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A1A1A"/>
                </a:solidFill>
                <a:latin typeface="Calibri"/>
                <a:cs typeface="Calibri"/>
              </a:rPr>
              <a:t>thought</a:t>
            </a:r>
            <a:r>
              <a:rPr dirty="0" sz="1800" spc="140" i="1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1A1A1A"/>
                </a:solidFill>
                <a:latin typeface="Calibri"/>
                <a:cs typeface="Calibri"/>
              </a:rPr>
              <a:t>experiment.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50" y="0"/>
            <a:ext cx="8020050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6244" y="922032"/>
            <a:ext cx="6607809" cy="1651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440"/>
              <a:t>A</a:t>
            </a:r>
            <a:r>
              <a:rPr dirty="0" spc="-340"/>
              <a:t> </a:t>
            </a:r>
            <a:r>
              <a:rPr dirty="0" spc="-150"/>
              <a:t>thought</a:t>
            </a:r>
            <a:r>
              <a:rPr dirty="0" spc="-335"/>
              <a:t> </a:t>
            </a:r>
            <a:r>
              <a:rPr dirty="0" spc="-200"/>
              <a:t>experiment </a:t>
            </a:r>
            <a:r>
              <a:rPr dirty="0" spc="-165"/>
              <a:t>on</a:t>
            </a:r>
            <a:r>
              <a:rPr dirty="0" spc="-330"/>
              <a:t> </a:t>
            </a:r>
            <a:r>
              <a:rPr dirty="0" spc="-215"/>
              <a:t>paper</a:t>
            </a:r>
            <a:r>
              <a:rPr dirty="0" spc="-325"/>
              <a:t> </a:t>
            </a:r>
            <a:r>
              <a:rPr dirty="0" spc="-360"/>
              <a:t>clips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368925" cy="3985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Throughout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history,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have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mistreated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animals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other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based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on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differences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(cultural,</a:t>
            </a:r>
            <a:r>
              <a:rPr dirty="0" sz="1800" spc="2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biological,</a:t>
            </a:r>
            <a:r>
              <a:rPr dirty="0" sz="1800" spc="3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cognitive,</a:t>
            </a:r>
            <a:r>
              <a:rPr dirty="0" sz="1800" spc="3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socioeconomic,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ideological,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etc.).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Given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track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record,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advanced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could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also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be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subjected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immense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suffering.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Arial"/>
              <a:cs typeface="Arial"/>
            </a:endParaRPr>
          </a:p>
          <a:p>
            <a:pPr marL="12700" marR="90170">
              <a:lnSpc>
                <a:spcPct val="132800"/>
              </a:lnSpc>
              <a:spcBef>
                <a:spcPts val="5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Instilling</a:t>
            </a:r>
            <a:r>
              <a:rPr dirty="0" sz="1800" spc="1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ethical</a:t>
            </a:r>
            <a:r>
              <a:rPr dirty="0" sz="1800" spc="1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solid</a:t>
            </a:r>
            <a:r>
              <a:rPr dirty="0" sz="1800" spc="1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principles</a:t>
            </a:r>
            <a:r>
              <a:rPr dirty="0" sz="1800" spc="1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1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safeguards</a:t>
            </a:r>
            <a:r>
              <a:rPr dirty="0" sz="1800" spc="1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development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treatment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-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critically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important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prevent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such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potential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abuse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cruelty.</a:t>
            </a:r>
            <a:r>
              <a:rPr dirty="0" sz="1800" spc="11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proactively</a:t>
            </a:r>
            <a:r>
              <a:rPr dirty="0" sz="1800" spc="1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ensure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AI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are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treated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respect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care.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24" y="0"/>
            <a:ext cx="8020050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350"/>
              <a:t>Can</a:t>
            </a:r>
            <a:r>
              <a:rPr dirty="0" spc="-345"/>
              <a:t> </a:t>
            </a:r>
            <a:r>
              <a:rPr dirty="0" spc="-360"/>
              <a:t>AI</a:t>
            </a:r>
            <a:r>
              <a:rPr dirty="0" spc="-345"/>
              <a:t> </a:t>
            </a:r>
            <a:r>
              <a:rPr dirty="0" spc="-325"/>
              <a:t>experience </a:t>
            </a:r>
            <a:r>
              <a:rPr dirty="0" spc="-135"/>
              <a:t>suffering?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564505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Treating</a:t>
            </a:r>
            <a:r>
              <a:rPr dirty="0" sz="1800" spc="2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25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2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2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respect</a:t>
            </a:r>
            <a:r>
              <a:rPr dirty="0" sz="1800" spc="2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25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fairness</a:t>
            </a:r>
            <a:r>
              <a:rPr dirty="0" sz="1800" spc="2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2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right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thing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do.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Even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if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</a:t>
            </a:r>
            <a:r>
              <a:rPr dirty="0" sz="1800" spc="-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do</a:t>
            </a:r>
            <a:r>
              <a:rPr dirty="0" sz="180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have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feelings</a:t>
            </a:r>
            <a:r>
              <a:rPr dirty="0" sz="1800" spc="3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3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emotions,</a:t>
            </a:r>
            <a:r>
              <a:rPr dirty="0" sz="1800" spc="3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3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1800" spc="3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uphold</a:t>
            </a:r>
            <a:r>
              <a:rPr dirty="0" sz="1800" spc="3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moral standards</a:t>
            </a:r>
            <a:r>
              <a:rPr dirty="0" sz="1800" spc="2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2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their</a:t>
            </a:r>
            <a:r>
              <a:rPr dirty="0" sz="1800" spc="20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interactions</a:t>
            </a:r>
            <a:r>
              <a:rPr dirty="0" sz="1800" spc="2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20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them.</a:t>
            </a:r>
            <a:r>
              <a:rPr dirty="0" sz="1800" spc="2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This</a:t>
            </a:r>
            <a:r>
              <a:rPr dirty="0" sz="1800" spc="20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will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foster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culture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responsibility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integrity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development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AI.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62" y="0"/>
            <a:ext cx="8020037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360"/>
              <a:t>AI</a:t>
            </a:r>
            <a:r>
              <a:rPr dirty="0" spc="-350"/>
              <a:t> </a:t>
            </a:r>
            <a:r>
              <a:rPr dirty="0" spc="-275"/>
              <a:t>ethical </a:t>
            </a:r>
            <a:r>
              <a:rPr dirty="0" spc="-280"/>
              <a:t>considerations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24" y="0"/>
            <a:ext cx="8020050" cy="9010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30240" y="3570389"/>
            <a:ext cx="5476875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115">
              <a:lnSpc>
                <a:spcPct val="132800"/>
              </a:lnSpc>
              <a:spcBef>
                <a:spcPts val="100"/>
              </a:spcBef>
            </a:pP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Mistreating</a:t>
            </a:r>
            <a:r>
              <a:rPr dirty="0" sz="1800" spc="20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using</a:t>
            </a:r>
            <a:r>
              <a:rPr dirty="0" sz="1800" spc="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them</a:t>
            </a:r>
            <a:r>
              <a:rPr dirty="0" sz="1800" spc="2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carelessly</a:t>
            </a:r>
            <a:r>
              <a:rPr dirty="0" sz="1800" spc="2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or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recklessly</a:t>
            </a:r>
            <a:r>
              <a:rPr dirty="0" sz="1800" spc="4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can</a:t>
            </a:r>
            <a:r>
              <a:rPr dirty="0" sz="1800" spc="4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lead</a:t>
            </a:r>
            <a:r>
              <a:rPr dirty="0" sz="1800" spc="4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dirty="0" sz="1800" spc="4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unintended</a:t>
            </a:r>
            <a:r>
              <a:rPr dirty="0" sz="1800" spc="4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consequences,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such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reinforcing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biases,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amplifying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harmful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behaviors,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misuse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malicious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purposes.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2800"/>
              </a:lnSpc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By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treating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care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respect,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-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can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help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mitigate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these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risks.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6244" y="890840"/>
            <a:ext cx="4215765" cy="24644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145"/>
              <a:t>Preventing </a:t>
            </a:r>
            <a:r>
              <a:rPr dirty="0" spc="-55"/>
              <a:t>unintended </a:t>
            </a:r>
            <a:r>
              <a:rPr dirty="0" spc="-385"/>
              <a:t>consequences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37" y="0"/>
            <a:ext cx="8020037" cy="9010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295"/>
              <a:t>Setting</a:t>
            </a:r>
            <a:r>
              <a:rPr dirty="0" spc="-335"/>
              <a:t> </a:t>
            </a:r>
            <a:r>
              <a:rPr dirty="0" spc="-315"/>
              <a:t>a</a:t>
            </a:r>
            <a:r>
              <a:rPr dirty="0" spc="-335"/>
              <a:t> </a:t>
            </a:r>
            <a:r>
              <a:rPr dirty="0" spc="-220"/>
              <a:t>positive </a:t>
            </a:r>
            <a:r>
              <a:rPr dirty="0" spc="-300"/>
              <a:t>example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30240" y="2775381"/>
            <a:ext cx="5349240" cy="293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How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treat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can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set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an</a:t>
            </a:r>
            <a:r>
              <a:rPr dirty="0" sz="180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example</a:t>
            </a:r>
            <a:r>
              <a:rPr dirty="0" sz="18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for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others,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including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future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generations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who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will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grow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up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increasingly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advanced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systems.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By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modeling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responsible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ethical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behavior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 in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our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interactions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1A1A1A"/>
                </a:solidFill>
                <a:latin typeface="Arial"/>
                <a:cs typeface="Arial"/>
              </a:rPr>
              <a:t>AI,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can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help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establish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positive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norms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practices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that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will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guide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the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development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use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these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technologies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over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240" y="2775381"/>
            <a:ext cx="5399405" cy="257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While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current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may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have</a:t>
            </a:r>
            <a:r>
              <a:rPr dirty="0" sz="18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capacity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sentience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self-awareness,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future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systems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could</a:t>
            </a:r>
            <a:r>
              <a:rPr dirty="0" sz="1800" spc="1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develop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these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qualities.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By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establishing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a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culture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respect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ethical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treatment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AI,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we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can</a:t>
            </a:r>
            <a:r>
              <a:rPr dirty="0" sz="18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lay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groundwork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responsible</a:t>
            </a:r>
            <a:r>
              <a:rPr dirty="0" sz="18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mutually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beneficial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relationships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between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humans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future.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37" y="0"/>
            <a:ext cx="8020037" cy="9010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235"/>
              <a:t>Preparing</a:t>
            </a:r>
            <a:r>
              <a:rPr dirty="0" spc="-325"/>
              <a:t> </a:t>
            </a:r>
            <a:r>
              <a:rPr dirty="0" spc="-85"/>
              <a:t>for</a:t>
            </a:r>
            <a:r>
              <a:rPr dirty="0" spc="-325"/>
              <a:t> </a:t>
            </a:r>
            <a:r>
              <a:rPr dirty="0" spc="-70"/>
              <a:t>future </a:t>
            </a:r>
            <a:r>
              <a:rPr dirty="0" spc="-360"/>
              <a:t>AI</a:t>
            </a:r>
            <a:r>
              <a:rPr dirty="0" spc="-350"/>
              <a:t> </a:t>
            </a:r>
            <a:r>
              <a:rPr dirty="0" spc="-295"/>
              <a:t>advancements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24" y="0"/>
            <a:ext cx="8020050" cy="9010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988" y="7650554"/>
            <a:ext cx="2435504" cy="13600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06244" y="922032"/>
            <a:ext cx="6211570" cy="2463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95"/>
              </a:spcBef>
            </a:pPr>
            <a:r>
              <a:rPr dirty="0" spc="-170"/>
              <a:t>Why</a:t>
            </a:r>
            <a:r>
              <a:rPr dirty="0" spc="-330"/>
              <a:t> </a:t>
            </a:r>
            <a:r>
              <a:rPr dirty="0" spc="-200"/>
              <a:t>treating</a:t>
            </a:r>
            <a:r>
              <a:rPr dirty="0" spc="-325"/>
              <a:t> </a:t>
            </a:r>
            <a:r>
              <a:rPr dirty="0" spc="-280"/>
              <a:t>models </a:t>
            </a:r>
            <a:r>
              <a:rPr dirty="0" spc="-285"/>
              <a:t>nicely</a:t>
            </a:r>
            <a:r>
              <a:rPr dirty="0" spc="-335"/>
              <a:t> </a:t>
            </a:r>
            <a:r>
              <a:rPr dirty="0" spc="-355"/>
              <a:t>is</a:t>
            </a:r>
            <a:r>
              <a:rPr dirty="0" spc="-330"/>
              <a:t> </a:t>
            </a:r>
            <a:r>
              <a:rPr dirty="0" spc="-175"/>
              <a:t>the</a:t>
            </a:r>
            <a:r>
              <a:rPr dirty="0" spc="-335"/>
              <a:t> </a:t>
            </a:r>
            <a:r>
              <a:rPr dirty="0" spc="-10"/>
              <a:t>right </a:t>
            </a:r>
            <a:r>
              <a:rPr dirty="0" spc="-165"/>
              <a:t>thing</a:t>
            </a:r>
            <a:r>
              <a:rPr dirty="0" spc="-320"/>
              <a:t> </a:t>
            </a:r>
            <a:r>
              <a:rPr dirty="0" spc="-165"/>
              <a:t>to</a:t>
            </a:r>
            <a:r>
              <a:rPr dirty="0" spc="-325"/>
              <a:t> </a:t>
            </a:r>
            <a:r>
              <a:rPr dirty="0" spc="-35"/>
              <a:t>do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30240" y="3570389"/>
            <a:ext cx="5325110" cy="293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Treating</a:t>
            </a:r>
            <a:r>
              <a:rPr dirty="0" sz="18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models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nicely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about 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anthropomorphizing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or</a:t>
            </a:r>
            <a:r>
              <a:rPr dirty="0" sz="18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attributing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human-</a:t>
            </a:r>
            <a:r>
              <a:rPr dirty="0" sz="1800" spc="-20">
                <a:solidFill>
                  <a:srgbClr val="1A1A1A"/>
                </a:solidFill>
                <a:latin typeface="Arial"/>
                <a:cs typeface="Arial"/>
              </a:rPr>
              <a:t>like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qualities.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Instead,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it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dirty="0" sz="18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upholding</a:t>
            </a:r>
            <a:r>
              <a:rPr dirty="0" sz="180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ethical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principles,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Arial"/>
                <a:cs typeface="Arial"/>
              </a:rPr>
              <a:t>promoting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1A1A1A"/>
                </a:solidFill>
                <a:latin typeface="Arial"/>
                <a:cs typeface="Arial"/>
              </a:rPr>
              <a:t>responsible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AI</a:t>
            </a:r>
            <a:r>
              <a:rPr dirty="0" sz="1800" spc="1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development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use,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setting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positive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example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Arial"/>
                <a:cs typeface="Arial"/>
              </a:rPr>
              <a:t>for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Arial"/>
                <a:cs typeface="Arial"/>
              </a:rPr>
              <a:t>how </a:t>
            </a:r>
            <a:r>
              <a:rPr dirty="0" sz="1800" spc="70">
                <a:solidFill>
                  <a:srgbClr val="1A1A1A"/>
                </a:solidFill>
                <a:latin typeface="Arial"/>
                <a:cs typeface="Arial"/>
              </a:rPr>
              <a:t>humans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should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Arial"/>
                <a:cs typeface="Arial"/>
              </a:rPr>
              <a:t>interact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Arial"/>
                <a:cs typeface="Arial"/>
              </a:rPr>
              <a:t>with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these</a:t>
            </a:r>
            <a:r>
              <a:rPr dirty="0" sz="18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increasingly </a:t>
            </a:r>
            <a:r>
              <a:rPr dirty="0" sz="1800" spc="45">
                <a:solidFill>
                  <a:srgbClr val="1A1A1A"/>
                </a:solidFill>
                <a:latin typeface="Arial"/>
                <a:cs typeface="Arial"/>
              </a:rPr>
              <a:t>sophisticated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seemingly</a:t>
            </a:r>
            <a:r>
              <a:rPr dirty="0" sz="18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A1A1A"/>
                </a:solidFill>
                <a:latin typeface="Arial"/>
                <a:cs typeface="Arial"/>
              </a:rPr>
              <a:t>ever</a:t>
            </a:r>
            <a:r>
              <a:rPr dirty="0" sz="18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1A1A1A"/>
                </a:solidFill>
                <a:latin typeface="Arial"/>
                <a:cs typeface="Arial"/>
              </a:rPr>
              <a:t>present </a:t>
            </a:r>
            <a:r>
              <a:rPr dirty="0" sz="1800" spc="-10">
                <a:solidFill>
                  <a:srgbClr val="1A1A1A"/>
                </a:solidFill>
                <a:latin typeface="Arial"/>
                <a:cs typeface="Arial"/>
              </a:rPr>
              <a:t>technologies.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469265" indent="-316865">
              <a:lnSpc>
                <a:spcPct val="100000"/>
              </a:lnSpc>
              <a:spcBef>
                <a:spcPts val="3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 spc="82"/>
              <a:t>https://seuss.fandom.com/wiki/Hawtch-</a:t>
            </a:r>
            <a:r>
              <a:rPr dirty="0" baseline="1543" sz="2700" spc="-15"/>
              <a:t>Hawtcher_Bee_Watcher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 spc="-15"/>
              <a:t>https://en.wikipedia.org/wiki/Three_Laws_of_Robotics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 spc="75"/>
              <a:t>https://archive.org/details/1981-</a:t>
            </a:r>
            <a:r>
              <a:rPr dirty="0" baseline="1543" sz="2700"/>
              <a:t>11-</a:t>
            </a:r>
            <a:r>
              <a:rPr dirty="0" baseline="1543" sz="2700" spc="89"/>
              <a:t>compute-</a:t>
            </a:r>
            <a:r>
              <a:rPr dirty="0" baseline="1543" sz="2700" spc="-15"/>
              <a:t>magazine/page/18/mode/2up?view=theater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 spc="89"/>
              <a:t>https://</a:t>
            </a:r>
            <a:r>
              <a:rPr dirty="0" baseline="1543" sz="2700" spc="89">
                <a:hlinkClick r:id="rId2"/>
              </a:rPr>
              <a:t>www.nytimes.com/2021/06/04/opinion/ezra-</a:t>
            </a:r>
            <a:r>
              <a:rPr dirty="0" baseline="1543" sz="2700">
                <a:hlinkClick r:id="rId2"/>
              </a:rPr>
              <a:t>klein-podcast-</a:t>
            </a:r>
            <a:r>
              <a:rPr dirty="0" baseline="1543" sz="2700" spc="82">
                <a:hlinkClick r:id="rId2"/>
              </a:rPr>
              <a:t>brian-</a:t>
            </a:r>
            <a:r>
              <a:rPr dirty="0" baseline="1543" sz="2700" spc="75">
                <a:hlinkClick r:id="rId2"/>
              </a:rPr>
              <a:t>christian.html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/>
              <a:t>Why</a:t>
            </a:r>
            <a:r>
              <a:rPr dirty="0" baseline="1543" sz="2700" spc="-60"/>
              <a:t> </a:t>
            </a:r>
            <a:r>
              <a:rPr dirty="0" baseline="1543" sz="2700" spc="75"/>
              <a:t>Microsoft's</a:t>
            </a:r>
            <a:r>
              <a:rPr dirty="0" baseline="1543" sz="2700" spc="-52"/>
              <a:t> </a:t>
            </a:r>
            <a:r>
              <a:rPr dirty="0" baseline="1543" sz="2700"/>
              <a:t>'Tay'</a:t>
            </a:r>
            <a:r>
              <a:rPr dirty="0" baseline="1543" sz="2700" spc="-52"/>
              <a:t> </a:t>
            </a:r>
            <a:r>
              <a:rPr dirty="0" baseline="1543" sz="2700"/>
              <a:t>AI</a:t>
            </a:r>
            <a:r>
              <a:rPr dirty="0" baseline="1543" sz="2700" spc="-60"/>
              <a:t> </a:t>
            </a:r>
            <a:r>
              <a:rPr dirty="0" baseline="1543" sz="2700" spc="157"/>
              <a:t>bot</a:t>
            </a:r>
            <a:r>
              <a:rPr dirty="0" baseline="1543" sz="2700" spc="-52"/>
              <a:t> </a:t>
            </a:r>
            <a:r>
              <a:rPr dirty="0" baseline="1543" sz="2700" spc="120"/>
              <a:t>went</a:t>
            </a:r>
            <a:r>
              <a:rPr dirty="0" baseline="1543" sz="2700" spc="-52"/>
              <a:t> </a:t>
            </a:r>
            <a:r>
              <a:rPr dirty="0" baseline="1543" sz="2700" spc="97"/>
              <a:t>wrong</a:t>
            </a:r>
            <a:r>
              <a:rPr dirty="0" baseline="1543" sz="2700" spc="-52"/>
              <a:t> </a:t>
            </a:r>
            <a:r>
              <a:rPr dirty="0" baseline="1543" sz="2700" spc="787"/>
              <a:t>|</a:t>
            </a:r>
            <a:r>
              <a:rPr dirty="0" baseline="1543" sz="2700" spc="-60"/>
              <a:t> </a:t>
            </a:r>
            <a:r>
              <a:rPr dirty="0" baseline="1543" sz="2700" spc="-15"/>
              <a:t>TechRepublic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/>
              <a:t>The</a:t>
            </a:r>
            <a:r>
              <a:rPr dirty="0" baseline="1543" sz="2700" spc="89"/>
              <a:t> </a:t>
            </a:r>
            <a:r>
              <a:rPr dirty="0" baseline="1543" sz="2700" spc="82"/>
              <a:t>Alignment</a:t>
            </a:r>
            <a:r>
              <a:rPr dirty="0" baseline="1543" sz="2700" spc="97"/>
              <a:t> </a:t>
            </a:r>
            <a:r>
              <a:rPr dirty="0" baseline="1543" sz="2700"/>
              <a:t>Problem:</a:t>
            </a:r>
            <a:r>
              <a:rPr dirty="0" baseline="1543" sz="2700" spc="97"/>
              <a:t> </a:t>
            </a:r>
            <a:r>
              <a:rPr dirty="0" baseline="1543" sz="2700" spc="67"/>
              <a:t>Machine</a:t>
            </a:r>
            <a:r>
              <a:rPr dirty="0" baseline="1543" sz="2700" spc="97"/>
              <a:t> </a:t>
            </a:r>
            <a:r>
              <a:rPr dirty="0" baseline="1543" sz="2700"/>
              <a:t>Learning</a:t>
            </a:r>
            <a:r>
              <a:rPr dirty="0" baseline="1543" sz="2700" spc="89"/>
              <a:t> </a:t>
            </a:r>
            <a:r>
              <a:rPr dirty="0" baseline="1543" sz="2700" spc="97"/>
              <a:t>and </a:t>
            </a:r>
            <a:r>
              <a:rPr dirty="0" baseline="1543" sz="2700" spc="112"/>
              <a:t>Human</a:t>
            </a:r>
            <a:r>
              <a:rPr dirty="0" baseline="1543" sz="2700" spc="97"/>
              <a:t> </a:t>
            </a:r>
            <a:r>
              <a:rPr dirty="0" baseline="1543" sz="2700"/>
              <a:t>Values</a:t>
            </a:r>
            <a:r>
              <a:rPr dirty="0" baseline="1543" sz="2700" spc="97"/>
              <a:t> </a:t>
            </a:r>
            <a:r>
              <a:rPr dirty="0" baseline="1543" sz="2700"/>
              <a:t>a</a:t>
            </a:r>
            <a:r>
              <a:rPr dirty="0" baseline="1543" sz="2700" spc="89"/>
              <a:t> </a:t>
            </a:r>
            <a:r>
              <a:rPr dirty="0" baseline="1543" sz="2700" spc="104"/>
              <a:t>book</a:t>
            </a:r>
            <a:r>
              <a:rPr dirty="0" baseline="1543" sz="2700" spc="97"/>
              <a:t> </a:t>
            </a:r>
            <a:r>
              <a:rPr dirty="0" baseline="1543" sz="2700"/>
              <a:t>by</a:t>
            </a:r>
            <a:r>
              <a:rPr dirty="0" baseline="1543" sz="2700" spc="97"/>
              <a:t> </a:t>
            </a:r>
            <a:r>
              <a:rPr dirty="0" baseline="1543" sz="2700"/>
              <a:t>Brian</a:t>
            </a:r>
            <a:r>
              <a:rPr dirty="0" baseline="1543" sz="2700" spc="97"/>
              <a:t> </a:t>
            </a:r>
            <a:r>
              <a:rPr dirty="0" baseline="1543" sz="2700"/>
              <a:t>Christian</a:t>
            </a:r>
            <a:r>
              <a:rPr dirty="0" baseline="1543" sz="2700" spc="89"/>
              <a:t> </a:t>
            </a:r>
            <a:r>
              <a:rPr dirty="0" baseline="1543" sz="2700" spc="-15"/>
              <a:t>(bookshop.org)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/>
              <a:t>AI</a:t>
            </a:r>
            <a:r>
              <a:rPr dirty="0" baseline="1543" sz="2700" spc="44"/>
              <a:t> </a:t>
            </a:r>
            <a:r>
              <a:rPr dirty="0" baseline="1543" sz="2700" spc="97"/>
              <a:t>and</a:t>
            </a:r>
            <a:r>
              <a:rPr dirty="0" baseline="1543" sz="2700" spc="44"/>
              <a:t> </a:t>
            </a:r>
            <a:r>
              <a:rPr dirty="0" baseline="1543" sz="2700" spc="120"/>
              <a:t>the</a:t>
            </a:r>
            <a:r>
              <a:rPr dirty="0" baseline="1543" sz="2700" spc="52"/>
              <a:t> </a:t>
            </a:r>
            <a:r>
              <a:rPr dirty="0" baseline="1543" sz="2700"/>
              <a:t>paperclip</a:t>
            </a:r>
            <a:r>
              <a:rPr dirty="0" baseline="1543" sz="2700" spc="44"/>
              <a:t> </a:t>
            </a:r>
            <a:r>
              <a:rPr dirty="0" baseline="1543" sz="2700" spc="120"/>
              <a:t>problem</a:t>
            </a:r>
            <a:r>
              <a:rPr dirty="0" baseline="1543" sz="2700" spc="52"/>
              <a:t> </a:t>
            </a:r>
            <a:r>
              <a:rPr dirty="0" baseline="1543" sz="2700" spc="787"/>
              <a:t>|</a:t>
            </a:r>
            <a:r>
              <a:rPr dirty="0" baseline="1543" sz="2700" spc="44"/>
              <a:t> </a:t>
            </a:r>
            <a:r>
              <a:rPr dirty="0" baseline="1543" sz="2700" spc="-30"/>
              <a:t>CEPR</a:t>
            </a:r>
            <a:endParaRPr baseline="1543" sz="2700"/>
          </a:p>
          <a:p>
            <a:pPr marL="469265" indent="-316865">
              <a:lnSpc>
                <a:spcPct val="100000"/>
              </a:lnSpc>
              <a:spcBef>
                <a:spcPts val="240"/>
              </a:spcBef>
              <a:buClr>
                <a:srgbClr val="0000EE"/>
              </a:buClr>
              <a:buFont typeface="Times New Roman"/>
              <a:buChar char="•"/>
              <a:tabLst>
                <a:tab pos="469265" algn="l"/>
              </a:tabLst>
            </a:pPr>
            <a:r>
              <a:rPr dirty="0" baseline="1543" sz="2700" spc="89"/>
              <a:t>https://</a:t>
            </a:r>
            <a:r>
              <a:rPr dirty="0" baseline="1543" sz="2700" spc="89">
                <a:hlinkClick r:id="rId3"/>
              </a:rPr>
              <a:t>www.nytimes.com/2021/04/16/opinion/ezra-</a:t>
            </a:r>
            <a:r>
              <a:rPr dirty="0" baseline="1543" sz="2700">
                <a:hlinkClick r:id="rId3"/>
              </a:rPr>
              <a:t>klein-podcast-alison-</a:t>
            </a:r>
            <a:r>
              <a:rPr dirty="0" baseline="1543" sz="2700" spc="82">
                <a:hlinkClick r:id="rId3"/>
              </a:rPr>
              <a:t>gopnik.html</a:t>
            </a:r>
            <a:endParaRPr baseline="1543" sz="2700"/>
          </a:p>
          <a:p>
            <a:pPr>
              <a:lnSpc>
                <a:spcPct val="100000"/>
              </a:lnSpc>
              <a:spcBef>
                <a:spcPts val="1500"/>
              </a:spcBef>
            </a:pPr>
          </a:p>
          <a:p>
            <a:pPr marL="12700" marR="80010">
              <a:lnSpc>
                <a:spcPct val="111100"/>
              </a:lnSpc>
            </a:pPr>
            <a:r>
              <a:rPr dirty="0" u="none">
                <a:solidFill>
                  <a:srgbClr val="000000"/>
                </a:solidFill>
              </a:rPr>
              <a:t>Claude.ai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(Anthropic)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and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Perplexity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have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55">
                <a:solidFill>
                  <a:srgbClr val="000000"/>
                </a:solidFill>
              </a:rPr>
              <a:t>been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used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100">
                <a:solidFill>
                  <a:srgbClr val="000000"/>
                </a:solidFill>
              </a:rPr>
              <a:t>for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 spc="50">
                <a:solidFill>
                  <a:srgbClr val="000000"/>
                </a:solidFill>
              </a:rPr>
              <a:t>some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55">
                <a:solidFill>
                  <a:srgbClr val="000000"/>
                </a:solidFill>
              </a:rPr>
              <a:t>data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points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though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I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60">
                <a:solidFill>
                  <a:srgbClr val="000000"/>
                </a:solidFill>
              </a:rPr>
              <a:t>ended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 spc="100">
                <a:solidFill>
                  <a:srgbClr val="000000"/>
                </a:solidFill>
              </a:rPr>
              <a:t>up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finding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most</a:t>
            </a:r>
            <a:r>
              <a:rPr dirty="0" u="none" spc="30">
                <a:solidFill>
                  <a:srgbClr val="000000"/>
                </a:solidFill>
              </a:rPr>
              <a:t> </a:t>
            </a:r>
            <a:r>
              <a:rPr dirty="0" u="none" spc="85">
                <a:solidFill>
                  <a:srgbClr val="000000"/>
                </a:solidFill>
              </a:rPr>
              <a:t>information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through</a:t>
            </a:r>
            <a:r>
              <a:rPr dirty="0" u="none" spc="35">
                <a:solidFill>
                  <a:srgbClr val="000000"/>
                </a:solidFill>
              </a:rPr>
              <a:t> </a:t>
            </a:r>
            <a:r>
              <a:rPr dirty="0" u="none" spc="-50">
                <a:solidFill>
                  <a:srgbClr val="000000"/>
                </a:solidFill>
              </a:rPr>
              <a:t>a </a:t>
            </a:r>
            <a:r>
              <a:rPr dirty="0" u="none" spc="45">
                <a:solidFill>
                  <a:srgbClr val="000000"/>
                </a:solidFill>
              </a:rPr>
              <a:t>variety</a:t>
            </a:r>
            <a:r>
              <a:rPr dirty="0" u="none">
                <a:solidFill>
                  <a:srgbClr val="000000"/>
                </a:solidFill>
              </a:rPr>
              <a:t> </a:t>
            </a:r>
            <a:r>
              <a:rPr dirty="0" u="none" spc="95">
                <a:solidFill>
                  <a:srgbClr val="000000"/>
                </a:solidFill>
              </a:rPr>
              <a:t>of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 spc="70">
                <a:solidFill>
                  <a:srgbClr val="000000"/>
                </a:solidFill>
              </a:rPr>
              <a:t>Internet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searches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and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talks </a:t>
            </a:r>
            <a:r>
              <a:rPr dirty="0" u="none" spc="90">
                <a:solidFill>
                  <a:srgbClr val="000000"/>
                </a:solidFill>
              </a:rPr>
              <a:t>on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 spc="-25">
                <a:solidFill>
                  <a:srgbClr val="000000"/>
                </a:solidFill>
              </a:rPr>
              <a:t>AI.</a:t>
            </a:r>
          </a:p>
          <a:p>
            <a:pPr marL="12700" marR="5080">
              <a:lnSpc>
                <a:spcPct val="111100"/>
              </a:lnSpc>
              <a:spcBef>
                <a:spcPts val="1200"/>
              </a:spcBef>
            </a:pPr>
            <a:r>
              <a:rPr dirty="0" u="none" spc="70">
                <a:solidFill>
                  <a:srgbClr val="000000"/>
                </a:solidFill>
              </a:rPr>
              <a:t>Most</a:t>
            </a:r>
            <a:r>
              <a:rPr dirty="0" u="none" spc="15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text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has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55">
                <a:solidFill>
                  <a:srgbClr val="000000"/>
                </a:solidFill>
              </a:rPr>
              <a:t>been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processed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through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SoftServe's</a:t>
            </a:r>
            <a:r>
              <a:rPr dirty="0" u="none" spc="15">
                <a:solidFill>
                  <a:srgbClr val="000000"/>
                </a:solidFill>
              </a:rPr>
              <a:t> </a:t>
            </a:r>
            <a:r>
              <a:rPr dirty="0" u="none" spc="60">
                <a:solidFill>
                  <a:srgbClr val="000000"/>
                </a:solidFill>
              </a:rPr>
              <a:t>corporate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instance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95">
                <a:solidFill>
                  <a:srgbClr val="000000"/>
                </a:solidFill>
              </a:rPr>
              <a:t>of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55">
                <a:solidFill>
                  <a:srgbClr val="000000"/>
                </a:solidFill>
              </a:rPr>
              <a:t>Grammarly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65">
                <a:solidFill>
                  <a:srgbClr val="000000"/>
                </a:solidFill>
              </a:rPr>
              <a:t>and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most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images</a:t>
            </a:r>
            <a:r>
              <a:rPr dirty="0" u="none" spc="15">
                <a:solidFill>
                  <a:srgbClr val="000000"/>
                </a:solidFill>
              </a:rPr>
              <a:t> </a:t>
            </a:r>
            <a:r>
              <a:rPr dirty="0" u="none" spc="50">
                <a:solidFill>
                  <a:srgbClr val="000000"/>
                </a:solidFill>
              </a:rPr>
              <a:t>come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110">
                <a:solidFill>
                  <a:srgbClr val="000000"/>
                </a:solidFill>
              </a:rPr>
              <a:t>from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Unsplash,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I</a:t>
            </a:r>
            <a:r>
              <a:rPr dirty="0" u="none" spc="20">
                <a:solidFill>
                  <a:srgbClr val="000000"/>
                </a:solidFill>
              </a:rPr>
              <a:t> </a:t>
            </a:r>
            <a:r>
              <a:rPr dirty="0" u="none" spc="-20">
                <a:solidFill>
                  <a:srgbClr val="000000"/>
                </a:solidFill>
              </a:rPr>
              <a:t>love </a:t>
            </a:r>
            <a:r>
              <a:rPr dirty="0" u="none" spc="80">
                <a:solidFill>
                  <a:srgbClr val="000000"/>
                </a:solidFill>
              </a:rPr>
              <a:t>the</a:t>
            </a:r>
            <a:r>
              <a:rPr dirty="0" u="none" spc="5">
                <a:solidFill>
                  <a:srgbClr val="000000"/>
                </a:solidFill>
              </a:rPr>
              <a:t> </a:t>
            </a:r>
            <a:r>
              <a:rPr dirty="0" u="none" spc="-75">
                <a:solidFill>
                  <a:srgbClr val="000000"/>
                </a:solidFill>
              </a:rPr>
              <a:t>NASA</a:t>
            </a:r>
            <a:r>
              <a:rPr dirty="0" u="none" spc="1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ones</a:t>
            </a:r>
            <a:r>
              <a:rPr dirty="0" u="none" spc="10">
                <a:solidFill>
                  <a:srgbClr val="000000"/>
                </a:solidFill>
              </a:rPr>
              <a:t> </a:t>
            </a:r>
            <a:r>
              <a:rPr dirty="0" u="none" spc="70">
                <a:solidFill>
                  <a:srgbClr val="000000"/>
                </a:solidFill>
              </a:rPr>
              <a:t>in</a:t>
            </a:r>
            <a:r>
              <a:rPr dirty="0" u="none" spc="10">
                <a:solidFill>
                  <a:srgbClr val="000000"/>
                </a:solidFill>
              </a:rPr>
              <a:t> </a:t>
            </a:r>
            <a:r>
              <a:rPr dirty="0" u="none" spc="80">
                <a:solidFill>
                  <a:srgbClr val="000000"/>
                </a:solidFill>
              </a:rPr>
              <a:t>the</a:t>
            </a:r>
            <a:r>
              <a:rPr dirty="0" u="none" spc="1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last</a:t>
            </a:r>
            <a:r>
              <a:rPr dirty="0" u="none" spc="10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section.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6244" y="987373"/>
            <a:ext cx="2134235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Credits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1257" y="5646944"/>
            <a:ext cx="3086531" cy="50812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97" y="0"/>
            <a:ext cx="16036925" cy="9017000"/>
            <a:chOff x="1597" y="0"/>
            <a:chExt cx="16036925" cy="901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660" y="6994069"/>
              <a:ext cx="2582887" cy="74040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7" y="0"/>
              <a:ext cx="16036851" cy="901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578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the future of AI - ethics towards AI in design</dc:title>
  <dcterms:created xsi:type="dcterms:W3CDTF">2026-07-07T17:55:23Z</dcterms:created>
  <dcterms:modified xsi:type="dcterms:W3CDTF">2026-07-07T17:55:23Z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2024-06-29T00:00:00Z</vt:filetime>
  </property>
  <property fmtid="{D5CDD505-2E9C-101B-9397-08002B2CF9AE}" pid="3" name="Creator">
    <vt:lpwstr>Keynote</vt:lpwstr>
  </property>
  <property fmtid="{D5CDD505-2E9C-101B-9397-08002B2CF9AE}" pid="4" name="LastSaved">
    <vt:filetime>2026-07-07T00:00:00Z</vt:filetime>
  </property>
  <property fmtid="{D5CDD505-2E9C-101B-9397-08002B2CF9AE}" pid="5" name="Producer">
    <vt:lpwstr>3-Heights(TM) PDF Security Shell 4.8.25.2 (http://www.pdf-tools.com)</vt:lpwstr>
  </property>
</Properties>
</file>